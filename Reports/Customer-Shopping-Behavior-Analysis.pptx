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Outfit"/>
      <p:regular r:id="rId17"/>
    </p:embeddedFont>
    <p:embeddedFont>
      <p:font typeface="Outfit"/>
      <p:regular r:id="rId18"/>
    </p:embeddedFont>
    <p:embeddedFont>
      <p:font typeface="Bitter"/>
      <p:regular r:id="rId19"/>
    </p:embeddedFont>
    <p:embeddedFont>
      <p:font typeface="Bitter"/>
      <p:regular r:id="rId20"/>
    </p:embeddedFont>
    <p:embeddedFont>
      <p:font typeface="Bitter"/>
      <p:regular r:id="rId21"/>
    </p:embeddedFont>
    <p:embeddedFont>
      <p:font typeface="Bitt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3,900 transactions · 18 features · Python · SQL · Power BI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7400" y="517446"/>
            <a:ext cx="381000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Dataset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057400" y="1274683"/>
            <a:ext cx="519374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50"/>
              </a:lnSpc>
              <a:buNone/>
            </a:pPr>
            <a:r>
              <a:rPr lang="en-US" sz="3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3,900</a:t>
            </a:r>
            <a:endParaRPr lang="en-US" sz="3950" dirty="0"/>
          </a:p>
        </p:txBody>
      </p:sp>
      <p:sp>
        <p:nvSpPr>
          <p:cNvPr id="4" name="Text 2"/>
          <p:cNvSpPr/>
          <p:nvPr/>
        </p:nvSpPr>
        <p:spPr>
          <a:xfrm>
            <a:off x="3701772" y="1930598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Purchases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79137" y="1274683"/>
            <a:ext cx="5193863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50"/>
              </a:lnSpc>
              <a:buNone/>
            </a:pPr>
            <a:r>
              <a:rPr lang="en-US" sz="3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18</a:t>
            </a:r>
            <a:endParaRPr lang="en-US" sz="3950" dirty="0"/>
          </a:p>
        </p:txBody>
      </p:sp>
      <p:sp>
        <p:nvSpPr>
          <p:cNvPr id="6" name="Text 4"/>
          <p:cNvSpPr/>
          <p:nvPr/>
        </p:nvSpPr>
        <p:spPr>
          <a:xfrm>
            <a:off x="9023509" y="1930598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Features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57400" y="2449711"/>
            <a:ext cx="519374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50"/>
              </a:lnSpc>
              <a:buNone/>
            </a:pPr>
            <a:r>
              <a:rPr lang="en-US" sz="3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37</a:t>
            </a:r>
            <a:endParaRPr lang="en-US" sz="3950" dirty="0"/>
          </a:p>
        </p:txBody>
      </p:sp>
      <p:sp>
        <p:nvSpPr>
          <p:cNvPr id="8" name="Text 6"/>
          <p:cNvSpPr/>
          <p:nvPr/>
        </p:nvSpPr>
        <p:spPr>
          <a:xfrm>
            <a:off x="3701772" y="3105626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Missing Ratings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79137" y="2449711"/>
            <a:ext cx="5193863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50"/>
              </a:lnSpc>
              <a:buNone/>
            </a:pPr>
            <a:r>
              <a:rPr lang="en-US" sz="3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$59.76</a:t>
            </a:r>
            <a:endParaRPr lang="en-US" sz="3950" dirty="0"/>
          </a:p>
        </p:txBody>
      </p:sp>
      <p:sp>
        <p:nvSpPr>
          <p:cNvPr id="10" name="Text 8"/>
          <p:cNvSpPr/>
          <p:nvPr/>
        </p:nvSpPr>
        <p:spPr>
          <a:xfrm>
            <a:off x="9023509" y="3105626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Avg. Spend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3574018"/>
            <a:ext cx="6705005" cy="402300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1738" y="4903113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1738" y="5243632"/>
            <a:ext cx="3438763" cy="1090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Demographics: Age, Gender, Location, Subscription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Purchases: Item, Category, Amount, Season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Behavior: Discount, Promo Code, Frequency, Rating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376" y="608767"/>
            <a:ext cx="6476881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 Preparation in Python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9376" y="1530429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9376" y="1856899"/>
            <a:ext cx="7705249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6" name="Text 3"/>
          <p:cNvSpPr/>
          <p:nvPr/>
        </p:nvSpPr>
        <p:spPr>
          <a:xfrm>
            <a:off x="719376" y="2005370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Load &amp; Explore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19376" y="2438162"/>
            <a:ext cx="7705249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pandas: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9376" y="3107174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9376" y="3433643"/>
            <a:ext cx="7705249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0" name="Text 7"/>
          <p:cNvSpPr/>
          <p:nvPr/>
        </p:nvSpPr>
        <p:spPr>
          <a:xfrm>
            <a:off x="719376" y="3582114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Clean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19376" y="4014907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Imputed missing Review Ratings by category median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9376" y="4668679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9376" y="4995148"/>
            <a:ext cx="7705249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4" name="Text 11"/>
          <p:cNvSpPr/>
          <p:nvPr/>
        </p:nvSpPr>
        <p:spPr>
          <a:xfrm>
            <a:off x="719376" y="5143619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Engineer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19376" y="5576411"/>
            <a:ext cx="7705249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Created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bins &amp;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9376" y="6245423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19376" y="6571893"/>
            <a:ext cx="7705249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8" name="Text 15"/>
          <p:cNvSpPr/>
          <p:nvPr/>
        </p:nvSpPr>
        <p:spPr>
          <a:xfrm>
            <a:off x="719376" y="6720364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Load to DB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19376" y="7153156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Exported cleaned DataFrame to PostgreSQL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Revenue by Gender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90718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862382"/>
            <a:ext cx="43936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Male Customers Drive 2× Revenue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34435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Male: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$157,890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vs. Female: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$75,191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401050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Male customers represent a significantly larger share of total spend across all categories.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6114"/>
            <a:ext cx="83896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Top Products &amp; Shipping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1869"/>
            <a:ext cx="3188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Top 5 Products by Rating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81350"/>
            <a:ext cx="6244709" cy="36934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9521" y="2571869"/>
            <a:ext cx="34562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Shipping Type Comparison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599521" y="3181350"/>
            <a:ext cx="3008948" cy="1397675"/>
          </a:xfrm>
          <a:prstGeom prst="roundRect">
            <a:avLst>
              <a:gd name="adj" fmla="val 2434"/>
            </a:avLst>
          </a:prstGeom>
          <a:solidFill>
            <a:srgbClr val="3B3C3E"/>
          </a:solidFill>
          <a:ln/>
        </p:spPr>
      </p:sp>
      <p:sp>
        <p:nvSpPr>
          <p:cNvPr id="7" name="Text 4"/>
          <p:cNvSpPr/>
          <p:nvPr/>
        </p:nvSpPr>
        <p:spPr>
          <a:xfrm>
            <a:off x="7826335" y="3408164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Standard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826335" y="3989308"/>
            <a:ext cx="25553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Avg spend: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$58.46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835283" y="3181350"/>
            <a:ext cx="3008948" cy="1397675"/>
          </a:xfrm>
          <a:prstGeom prst="roundRect">
            <a:avLst>
              <a:gd name="adj" fmla="val 2434"/>
            </a:avLst>
          </a:prstGeom>
          <a:solidFill>
            <a:srgbClr val="3B3C3E"/>
          </a:solidFill>
          <a:ln/>
        </p:spPr>
      </p:sp>
      <p:sp>
        <p:nvSpPr>
          <p:cNvPr id="10" name="Text 7"/>
          <p:cNvSpPr/>
          <p:nvPr/>
        </p:nvSpPr>
        <p:spPr>
          <a:xfrm>
            <a:off x="11062097" y="3408164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Express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062097" y="3989308"/>
            <a:ext cx="25553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Avg spend: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$60.48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599521" y="483417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Express shippers spend slightly more on average.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2683"/>
            <a:ext cx="83566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Subscribers vs. Non-Subscribers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66774"/>
            <a:ext cx="693777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130" y="2803327"/>
            <a:ext cx="91440" cy="91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9050" y="2789634"/>
            <a:ext cx="46517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Customers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1548527" y="2766774"/>
            <a:ext cx="860346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867" y="2803327"/>
            <a:ext cx="91440" cy="91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23787" y="2789634"/>
            <a:ext cx="631746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Revenue (USD)</a:t>
            </a:r>
            <a:endParaRPr lang="en-US" sz="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07519"/>
            <a:ext cx="6244709" cy="3457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99521" y="27384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599521" y="3319582"/>
            <a:ext cx="62447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Non-subscribers: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73%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of customers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Avg spend nearly identical (~$59)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Repeat buyers: 2,518 non-subscribers vs. 958 subscribers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599521" y="5184934"/>
            <a:ext cx="6244709" cy="1326713"/>
          </a:xfrm>
          <a:prstGeom prst="roundRect">
            <a:avLst>
              <a:gd name="adj" fmla="val 2565"/>
            </a:avLst>
          </a:prstGeom>
          <a:solidFill>
            <a:srgbClr val="02234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335" y="5521404"/>
            <a:ext cx="283488" cy="2268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36637" y="5468422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Huge opportunity to convert high-frequency non-subscribers.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78741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Discount-Dependent Products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90718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862382"/>
            <a:ext cx="4633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Nearly Half of Sales Are Discounted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34435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5 products have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47–50%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discount rates.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401050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Review discount policy to balance sales lift with margin control.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841"/>
            <a:ext cx="63485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33932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1905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Segment Breakdown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599521" y="2515076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69041" y="2515076"/>
            <a:ext cx="121920" cy="1458635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7" name="Text 4"/>
          <p:cNvSpPr/>
          <p:nvPr/>
        </p:nvSpPr>
        <p:spPr>
          <a:xfrm>
            <a:off x="7948255" y="2772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Loyal — 3,116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48255" y="3353514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80% of base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599521" y="4200525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69041" y="4200525"/>
            <a:ext cx="121920" cy="1458635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11" name="Text 8"/>
          <p:cNvSpPr/>
          <p:nvPr/>
        </p:nvSpPr>
        <p:spPr>
          <a:xfrm>
            <a:off x="7948255" y="44578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Returning — 701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48255" y="5038963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18% of base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599521" y="5885974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69041" y="5885974"/>
            <a:ext cx="121920" cy="1458635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15" name="Text 12"/>
          <p:cNvSpPr/>
          <p:nvPr/>
        </p:nvSpPr>
        <p:spPr>
          <a:xfrm>
            <a:off x="7948255" y="61432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New — 83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948255" y="6724412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2% of base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0622"/>
            <a:ext cx="88782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Revenue by Age Group &amp; Category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74714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446377"/>
            <a:ext cx="33418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Top Products by Category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599521" y="3055858"/>
            <a:ext cx="3008948" cy="1760577"/>
          </a:xfrm>
          <a:prstGeom prst="roundRect">
            <a:avLst>
              <a:gd name="adj" fmla="val 1933"/>
            </a:avLst>
          </a:prstGeom>
          <a:solidFill>
            <a:srgbClr val="3B3C3E"/>
          </a:solidFill>
          <a:ln/>
        </p:spPr>
      </p:sp>
      <p:sp>
        <p:nvSpPr>
          <p:cNvPr id="6" name="Text 3"/>
          <p:cNvSpPr/>
          <p:nvPr/>
        </p:nvSpPr>
        <p:spPr>
          <a:xfrm>
            <a:off x="7826335" y="3282672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Accessories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826335" y="3863816"/>
            <a:ext cx="25553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Jewelry · Sunglasses · Belt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835283" y="3055858"/>
            <a:ext cx="3008948" cy="1760577"/>
          </a:xfrm>
          <a:prstGeom prst="roundRect">
            <a:avLst>
              <a:gd name="adj" fmla="val 1933"/>
            </a:avLst>
          </a:prstGeom>
          <a:solidFill>
            <a:srgbClr val="3B3C3E"/>
          </a:solidFill>
          <a:ln/>
        </p:spPr>
      </p:sp>
      <p:sp>
        <p:nvSpPr>
          <p:cNvPr id="9" name="Text 6"/>
          <p:cNvSpPr/>
          <p:nvPr/>
        </p:nvSpPr>
        <p:spPr>
          <a:xfrm>
            <a:off x="11062097" y="3282672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Clothing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062097" y="3863816"/>
            <a:ext cx="25553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Blouse · Pants · Shirt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599521" y="5043249"/>
            <a:ext cx="3008948" cy="1760577"/>
          </a:xfrm>
          <a:prstGeom prst="roundRect">
            <a:avLst>
              <a:gd name="adj" fmla="val 1933"/>
            </a:avLst>
          </a:prstGeom>
          <a:solidFill>
            <a:srgbClr val="3B3C3E"/>
          </a:solidFill>
          <a:ln/>
        </p:spPr>
      </p:sp>
      <p:sp>
        <p:nvSpPr>
          <p:cNvPr id="12" name="Text 9"/>
          <p:cNvSpPr/>
          <p:nvPr/>
        </p:nvSpPr>
        <p:spPr>
          <a:xfrm>
            <a:off x="7826335" y="5270063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Footwear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826335" y="5851208"/>
            <a:ext cx="25553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Sandals · Shoes · Sneakers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10835283" y="5043249"/>
            <a:ext cx="3008948" cy="1760577"/>
          </a:xfrm>
          <a:prstGeom prst="roundRect">
            <a:avLst>
              <a:gd name="adj" fmla="val 1933"/>
            </a:avLst>
          </a:prstGeom>
          <a:solidFill>
            <a:srgbClr val="3B3C3E"/>
          </a:solidFill>
          <a:ln/>
        </p:spPr>
      </p:sp>
      <p:sp>
        <p:nvSpPr>
          <p:cNvPr id="15" name="Text 12"/>
          <p:cNvSpPr/>
          <p:nvPr/>
        </p:nvSpPr>
        <p:spPr>
          <a:xfrm>
            <a:off x="11062097" y="5270063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Outerwear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1062097" y="5851208"/>
            <a:ext cx="25553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Jacket · Coat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4962" y="513040"/>
            <a:ext cx="6790968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Dashboard &amp; Recommendations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4962" y="1313498"/>
            <a:ext cx="7854077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Interactive Power BI dashboard: 3.9K customers, $59.76 avg spend, 3.75 avg rating — filters for subscription, gender, category, shipping.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962" y="2016204"/>
            <a:ext cx="368498" cy="3684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4962" y="2571869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Boost Subscriptions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44962" y="2949535"/>
            <a:ext cx="785407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Promote exclusive subscriber benefits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962" y="3516154"/>
            <a:ext cx="368498" cy="3684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4962" y="4071818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Loyalty Programs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44962" y="4449485"/>
            <a:ext cx="785407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Reward repeat buyers → Loyal segment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962" y="5016103"/>
            <a:ext cx="368498" cy="36849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4962" y="5571768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Review Discounts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644962" y="5949434"/>
            <a:ext cx="785407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Balance sales lift vs. margins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4962" y="6516053"/>
            <a:ext cx="368498" cy="36849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44962" y="7071717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Targeted Marketing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644962" y="7449383"/>
            <a:ext cx="785407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Focus on high-revenue age groups &amp; express shippers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2026-05-02T10:35:43Z</dcterms:created>
  <dcterms:modified xsi:type="dcterms:W3CDTF">2026-05-02T10:35:43Z</dcterms:modified>
</cp:coreProperties>
</file>